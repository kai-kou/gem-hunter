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32000" cy="684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32000" cy="288000"/>
          </a:xfrm>
          <a:prstGeom prst="rect">
            <a:avLst/>
          </a:prstGeom>
          <a:solidFill>
            <a:srgbClr val="1474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80000" y="1800000"/>
            <a:ext cx="9972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14364F"/>
                </a:solidFill>
                <a:latin typeface="Calibri"/>
                <a:ea typeface="游ゴシック"/>
              </a:rPr>
              <a:t>gem-hunter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0000" y="4248000"/>
            <a:ext cx="9972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64748B"/>
                </a:solidFill>
                <a:latin typeface="Calibri"/>
                <a:ea typeface="游ゴシック"/>
              </a:rPr>
              <a:t>star では埋もれる「実際に使われている OSS」を見つける / 開発者向け解説 / 2026-08-23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32000" cy="1008000"/>
          </a:xfrm>
          <a:prstGeom prst="rect">
            <a:avLst/>
          </a:prstGeom>
          <a:solidFill>
            <a:srgbClr val="1436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  <a:ea typeface="游ゴシック"/>
              </a:rPr>
              <a:t>star 順では出てこない OSS を、検索できる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000" y="1368000"/>
            <a:ext cx="10908000" cy="52920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>
            <a:outerShdw blurRad="101600" dist="38100" dir="810000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00000" y="1656000"/>
            <a:ext cx="10332000" cy="4716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25000"/>
              </a:lnSpc>
              <a:spcAft>
                <a:spcPts val="1125"/>
              </a:spcAft>
            </a:pPr>
            <a:r>
              <a:rPr sz="1500">
                <a:solidFill>
                  <a:srgbClr val="1B2A3A"/>
                </a:solidFill>
                <a:latin typeface="Calibri"/>
                <a:ea typeface="游ゴシック"/>
              </a:rPr>
              <a:t>・キーワードを入れると一覧が出て、カードから独立した URL の詳細ページへ進める</a:t>
            </a:r>
          </a:p>
          <a:p>
            <a:pPr>
              <a:lnSpc>
                <a:spcPct val="125000"/>
              </a:lnSpc>
              <a:spcAft>
                <a:spcPts val="1125"/>
              </a:spcAft>
            </a:pPr>
            <a:r>
              <a:rPr sz="1500">
                <a:solidFill>
                  <a:srgbClr val="1B2A3A"/>
                </a:solidFill>
                <a:latin typeface="Calibri"/>
                <a:ea typeface="游ゴシック"/>
              </a:rPr>
              <a:t>・検索条件・並び順・ページ番号はすべて URL に載るので、共有しても戻っても同じ画面が再現する</a:t>
            </a:r>
          </a:p>
          <a:p>
            <a:pPr>
              <a:lnSpc>
                <a:spcPct val="125000"/>
              </a:lnSpc>
              <a:spcAft>
                <a:spcPts val="1125"/>
              </a:spcAft>
            </a:pPr>
            <a:r>
              <a:rPr sz="1500">
                <a:solidFill>
                  <a:srgbClr val="1B2A3A"/>
                </a:solidFill>
                <a:latin typeface="Calibri"/>
                <a:ea typeface="游ゴシック"/>
              </a:rPr>
              <a:t>・並び替えは関連度・star 数・更新日時、表示件数は 20 / 50 / 100 件から選べる</a:t>
            </a:r>
          </a:p>
          <a:p>
            <a:pPr>
              <a:lnSpc>
                <a:spcPct val="125000"/>
              </a:lnSpc>
              <a:spcAft>
                <a:spcPts val="1125"/>
              </a:spcAft>
            </a:pPr>
            <a:r>
              <a:rPr sz="1500">
                <a:solidFill>
                  <a:srgbClr val="1B2A3A"/>
                </a:solidFill>
                <a:latin typeface="Calibri"/>
                <a:ea typeface="游ゴシック"/>
              </a:rPr>
              <a:t>・詳細ページは README までサーバー側で描画するため、初回表示で JavaScript を待たない</a:t>
            </a:r>
          </a:p>
          <a:p>
            <a:pPr>
              <a:lnSpc>
                <a:spcPct val="125000"/>
              </a:lnSpc>
              <a:spcAft>
                <a:spcPts val="1125"/>
              </a:spcAft>
            </a:pPr>
            <a:r>
              <a:rPr sz="1500">
                <a:solidFill>
                  <a:srgbClr val="1B2A3A"/>
                </a:solidFill>
                <a:latin typeface="Calibri"/>
                <a:ea typeface="游ゴシック"/>
              </a:rPr>
              <a:t>・未ログインでも全機能が使える。ログインで変わるのは GitHub API のレート枠だけ</a:t>
            </a:r>
          </a:p>
          <a:p>
            <a:pPr>
              <a:lnSpc>
                <a:spcPct val="125000"/>
              </a:lnSpc>
              <a:spcAft>
                <a:spcPts val="1125"/>
              </a:spcAft>
            </a:pPr>
            <a:r>
              <a:rPr sz="1500">
                <a:solidFill>
                  <a:srgbClr val="1B2A3A"/>
                </a:solidFill>
                <a:latin typeface="Calibri"/>
                <a:ea typeface="游ゴシック"/>
              </a:rPr>
              <a:t>・カードに付く「Gem」の印と一覧への導線は次で扱う。この画面がこの発表のゴール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32000" cy="1008000"/>
          </a:xfrm>
          <a:prstGeom prst="rect">
            <a:avLst/>
          </a:prstGeom>
          <a:solidFill>
            <a:srgbClr val="1436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  <a:ea typeface="游ゴシック"/>
              </a:rPr>
              <a:t>検索語をそのまま、Gem だけの一覧へ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000" y="1368000"/>
            <a:ext cx="10908000" cy="52920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>
            <a:outerShdw blurRad="101600" dist="38100" dir="810000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00000" y="1656000"/>
            <a:ext cx="10332000" cy="4716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25000"/>
              </a:lnSpc>
              <a:spcAft>
                <a:spcPts val="1050"/>
              </a:spcAft>
            </a:pPr>
            <a:r>
              <a:rPr sz="1400">
                <a:solidFill>
                  <a:srgbClr val="1B2A3A"/>
                </a:solidFill>
                <a:latin typeface="Calibri"/>
                <a:ea typeface="游ゴシック"/>
              </a:rPr>
              <a:t>・検索結果のカードには、star 数のわりに多くのパッケージから使われている候補に「Gem」の印が付く</a:t>
            </a:r>
          </a:p>
          <a:p>
            <a:pPr>
              <a:lnSpc>
                <a:spcPct val="125000"/>
              </a:lnSpc>
              <a:spcAft>
                <a:spcPts val="1050"/>
              </a:spcAft>
            </a:pPr>
            <a:r>
              <a:rPr sz="1400">
                <a:solidFill>
                  <a:srgbClr val="1B2A3A"/>
                </a:solidFill>
                <a:latin typeface="Calibri"/>
                <a:ea typeface="游ゴシック"/>
              </a:rPr>
              <a:t>・印が付いた候補だけを見たくなったら、検索結果の上の導線から Gem 一覧へ移れる</a:t>
            </a:r>
          </a:p>
          <a:p>
            <a:pPr>
              <a:lnSpc>
                <a:spcPct val="125000"/>
              </a:lnSpc>
              <a:spcAft>
                <a:spcPts val="1050"/>
              </a:spcAft>
            </a:pPr>
            <a:r>
              <a:rPr sz="1400">
                <a:solidFill>
                  <a:srgbClr val="1B2A3A"/>
                </a:solidFill>
                <a:latin typeface="Calibri"/>
                <a:ea typeface="游ゴシック"/>
              </a:rPr>
              <a:t>・一覧は検索語を引き継ぎ、過小評価の度合い（Gem Index。定義は後半で扱う）が高い順に 20 件ずつ並ぶ</a:t>
            </a:r>
          </a:p>
          <a:p>
            <a:pPr>
              <a:lnSpc>
                <a:spcPct val="125000"/>
              </a:lnSpc>
              <a:spcAft>
                <a:spcPts val="1050"/>
              </a:spcAft>
            </a:pPr>
            <a:r>
              <a:rPr sz="1400">
                <a:solidFill>
                  <a:srgbClr val="1B2A3A"/>
                </a:solidFill>
                <a:latin typeface="Calibri"/>
                <a:ea typeface="游ゴシック"/>
              </a:rPr>
              <a:t>・検索結果そのものの並び順は変えない。順位づけをするのはこの一覧の中だけ</a:t>
            </a:r>
          </a:p>
          <a:p>
            <a:pPr>
              <a:lnSpc>
                <a:spcPct val="125000"/>
              </a:lnSpc>
              <a:spcAft>
                <a:spcPts val="1050"/>
              </a:spcAft>
            </a:pPr>
            <a:r>
              <a:rPr sz="1400">
                <a:solidFill>
                  <a:srgbClr val="1B2A3A"/>
                </a:solidFill>
                <a:latin typeface="Calibri"/>
                <a:ea typeface="游ゴシック"/>
              </a:rPr>
              <a:t>・絞り込みはリポジトリ名とパッケージ名を語の区切りで照合し、0 件のときだけ 1 語に緩める</a:t>
            </a:r>
          </a:p>
          <a:p>
            <a:pPr>
              <a:lnSpc>
                <a:spcPct val="125000"/>
              </a:lnSpc>
              <a:spcAft>
                <a:spcPts val="1050"/>
              </a:spcAft>
            </a:pPr>
            <a:r>
              <a:rPr sz="1400">
                <a:solidFill>
                  <a:srgbClr val="1B2A3A"/>
                </a:solidFill>
                <a:latin typeface="Calibri"/>
                <a:ea typeface="游ゴシック"/>
              </a:rPr>
              <a:t>・検索結果で印が付いた候補は一覧側へそのまま引き渡すので、印と一覧で判定基準がずれない</a:t>
            </a:r>
          </a:p>
          <a:p>
            <a:pPr>
              <a:lnSpc>
                <a:spcPct val="125000"/>
              </a:lnSpc>
              <a:spcAft>
                <a:spcPts val="1050"/>
              </a:spcAft>
            </a:pPr>
            <a:r>
              <a:rPr sz="1400">
                <a:solidFill>
                  <a:srgbClr val="1B2A3A"/>
                </a:solidFill>
                <a:latin typeface="Calibri"/>
                <a:ea typeface="游ゴシック"/>
              </a:rPr>
              <a:t>・印が付かないことは評価が低いことを意味しない、と画面にも明記している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32000" cy="1008000"/>
          </a:xfrm>
          <a:prstGeom prst="rect">
            <a:avLst/>
          </a:prstGeom>
          <a:solidFill>
            <a:srgbClr val="1436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  <a:ea typeface="游ゴシック"/>
              </a:rPr>
              <a:t>検索しなくても、その日の Gem が並ぶ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000" y="1368000"/>
            <a:ext cx="10908000" cy="52920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>
            <a:outerShdw blurRad="101600" dist="38100" dir="810000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00000" y="1656000"/>
            <a:ext cx="10332000" cy="4716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25000"/>
              </a:lnSpc>
              <a:spcAft>
                <a:spcPts val="1200"/>
              </a:spcAft>
            </a:pPr>
            <a:r>
              <a:rPr sz="1600">
                <a:solidFill>
                  <a:srgbClr val="1B2A3A"/>
                </a:solidFill>
                <a:latin typeface="Calibri"/>
                <a:ea typeface="游ゴシック"/>
              </a:rPr>
              <a:t>・トップページの「今日の Gem」は、キーワードを 1 文字も入れなくても 5 件並ぶ</a:t>
            </a:r>
          </a:p>
          <a:p>
            <a:pPr>
              <a:lnSpc>
                <a:spcPct val="125000"/>
              </a:lnSpc>
              <a:spcAft>
                <a:spcPts val="1200"/>
              </a:spcAft>
            </a:pPr>
            <a:r>
              <a:rPr sz="1600">
                <a:solidFill>
                  <a:srgbClr val="1B2A3A"/>
                </a:solidFill>
                <a:latin typeface="Calibri"/>
                <a:ea typeface="游ゴシック"/>
              </a:rPr>
              <a:t>・並びは日付をシードにした決定論的な選び方で、同じ日なら誰が見ても同じ顔ぶれになる</a:t>
            </a:r>
          </a:p>
          <a:p>
            <a:pPr>
              <a:lnSpc>
                <a:spcPct val="125000"/>
              </a:lnSpc>
              <a:spcAft>
                <a:spcPts val="1200"/>
              </a:spcAft>
            </a:pPr>
            <a:r>
              <a:rPr sz="1600">
                <a:solidFill>
                  <a:srgbClr val="1B2A3A"/>
                </a:solidFill>
                <a:latin typeface="Calibri"/>
                <a:ea typeface="游ゴシック"/>
              </a:rPr>
              <a:t>・?date=YYYYMMDD を付ければ過去日を再現でき、翌日を待たずに入れ替わりを確認できる</a:t>
            </a:r>
          </a:p>
          <a:p>
            <a:pPr>
              <a:lnSpc>
                <a:spcPct val="125000"/>
              </a:lnSpc>
              <a:spcAft>
                <a:spcPts val="1200"/>
              </a:spcAft>
            </a:pPr>
            <a:r>
              <a:rPr sz="1600">
                <a:solidFill>
                  <a:srgbClr val="1B2A3A"/>
                </a:solidFill>
                <a:latin typeface="Calibri"/>
                <a:ea typeface="游ゴシック"/>
              </a:rPr>
              <a:t>・利用パッケージ数と star 数を併記し、出典（Ecosyste.ms・CC BY-SA 4.0）と鮮度も出す</a:t>
            </a:r>
          </a:p>
          <a:p>
            <a:pPr>
              <a:lnSpc>
                <a:spcPct val="125000"/>
              </a:lnSpc>
              <a:spcAft>
                <a:spcPts val="1200"/>
              </a:spcAft>
            </a:pPr>
            <a:r>
              <a:rPr sz="1600">
                <a:solidFill>
                  <a:srgbClr val="1B2A3A"/>
                </a:solidFill>
                <a:latin typeface="Calibri"/>
                <a:ea typeface="游ゴシック"/>
              </a:rPr>
              <a:t>・この並びにも、前の画面で印を付けたのと同じ Gem Index を使っている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32000" cy="1008000"/>
          </a:xfrm>
          <a:prstGeom prst="rect">
            <a:avLst/>
          </a:prstGeom>
          <a:solidFill>
            <a:srgbClr val="1436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  <a:ea typeface="游ゴシック"/>
              </a:rPr>
              <a:t>star の多さは、使われている証拠ではない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000" y="1368000"/>
            <a:ext cx="10908000" cy="52920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>
            <a:outerShdw blurRad="101600" dist="38100" dir="810000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00000" y="1656000"/>
            <a:ext cx="10332000" cy="4716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25000"/>
              </a:lnSpc>
              <a:spcAft>
                <a:spcPts val="1125"/>
              </a:spcAft>
            </a:pPr>
            <a:r>
              <a:rPr sz="1500">
                <a:solidFill>
                  <a:srgbClr val="1B2A3A"/>
                </a:solidFill>
                <a:latin typeface="Calibri"/>
                <a:ea typeface="游ゴシック"/>
              </a:rPr>
              <a:t>・出発点は「自分が使うライブラリを選ぶとき、star 以外に判断材料がない」という不便だった</a:t>
            </a:r>
          </a:p>
          <a:p>
            <a:pPr>
              <a:lnSpc>
                <a:spcPct val="125000"/>
              </a:lnSpc>
              <a:spcAft>
                <a:spcPts val="1125"/>
              </a:spcAft>
            </a:pPr>
            <a:r>
              <a:rPr sz="1500">
                <a:solidFill>
                  <a:srgbClr val="1B2A3A"/>
                </a:solidFill>
                <a:latin typeface="Calibri"/>
                <a:ea typeface="游ゴシック"/>
              </a:rPr>
              <a:t>・star は「後で読む」ブックマーク代わりにも押されるので、利用実績とは意味が違う</a:t>
            </a:r>
          </a:p>
          <a:p>
            <a:pPr>
              <a:lnSpc>
                <a:spcPct val="125000"/>
              </a:lnSpc>
              <a:spcAft>
                <a:spcPts val="1125"/>
              </a:spcAft>
            </a:pPr>
            <a:r>
              <a:rPr sz="1500">
                <a:solidFill>
                  <a:srgbClr val="1B2A3A"/>
                </a:solidFill>
                <a:latin typeface="Calibri"/>
                <a:ea typeface="游ゴシック"/>
              </a:rPr>
              <a:t>・約 600 万個の偽 star が観測されている（He et al., ICSE 2026）</a:t>
            </a:r>
          </a:p>
          <a:p>
            <a:pPr>
              <a:lnSpc>
                <a:spcPct val="125000"/>
              </a:lnSpc>
              <a:spcAft>
                <a:spcPts val="1125"/>
              </a:spcAft>
            </a:pPr>
            <a:r>
              <a:rPr sz="1500">
                <a:solidFill>
                  <a:srgbClr val="1B2A3A"/>
                </a:solidFill>
                <a:latin typeface="Calibri"/>
                <a:ea typeface="游ゴシック"/>
              </a:rPr>
              <a:t>・debug_inspector は 25 star で 111,000 以上のプロジェクトから依存されている</a:t>
            </a:r>
          </a:p>
          <a:p>
            <a:pPr>
              <a:lnSpc>
                <a:spcPct val="125000"/>
              </a:lnSpc>
              <a:spcAft>
                <a:spcPts val="1125"/>
              </a:spcAft>
            </a:pPr>
            <a:r>
              <a:rPr sz="1500">
                <a:solidFill>
                  <a:srgbClr val="1B2A3A"/>
                </a:solidFill>
                <a:latin typeface="Calibri"/>
                <a:ea typeface="游ゴシック"/>
              </a:rPr>
              <a:t>・被依存数なら実際に組み込まれた回数を近似できるが、それだけで並べると有名どころが上位を占める</a:t>
            </a:r>
          </a:p>
          <a:p>
            <a:pPr>
              <a:lnSpc>
                <a:spcPct val="125000"/>
              </a:lnSpc>
              <a:spcAft>
                <a:spcPts val="1125"/>
              </a:spcAft>
            </a:pPr>
            <a:r>
              <a:rPr sz="1500">
                <a:solidFill>
                  <a:srgbClr val="1B2A3A"/>
                </a:solidFill>
                <a:latin typeface="Calibri"/>
                <a:ea typeface="游ゴシック"/>
              </a:rPr>
              <a:t>・だから「実利用のわりに注目されていないもの」を測る指標が要る、というのが最初の仮説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32000" cy="1008000"/>
          </a:xfrm>
          <a:prstGeom prst="rect">
            <a:avLst/>
          </a:prstGeom>
          <a:solidFill>
            <a:srgbClr val="1436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  <a:ea typeface="游ゴシック"/>
              </a:rPr>
              <a:t>構想を、辿れるドキュメントに分解した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000" y="1368000"/>
            <a:ext cx="10908000" cy="52920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>
            <a:outerShdw blurRad="101600" dist="38100" dir="810000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00000" y="1656000"/>
            <a:ext cx="10332000" cy="4716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25000"/>
              </a:lnSpc>
              <a:spcAft>
                <a:spcPts val="1125"/>
              </a:spcAft>
            </a:pPr>
            <a:r>
              <a:rPr sz="1500">
                <a:solidFill>
                  <a:srgbClr val="1B2A3A"/>
                </a:solidFill>
                <a:latin typeface="Calibri"/>
                <a:ea typeface="游ゴシック"/>
              </a:rPr>
              <a:t>・初期コンセプト（IndieGems 構想）が先にあり、外部から与えられた要件でスコープを絞り直した</a:t>
            </a:r>
          </a:p>
          <a:p>
            <a:pPr>
              <a:lnSpc>
                <a:spcPct val="125000"/>
              </a:lnSpc>
              <a:spcAft>
                <a:spcPts val="1125"/>
              </a:spcAft>
            </a:pPr>
            <a:r>
              <a:rPr sz="1500">
                <a:solidFill>
                  <a:srgbClr val="1B2A3A"/>
                </a:solidFill>
                <a:latin typeface="Calibri"/>
                <a:ea typeface="游ゴシック"/>
              </a:rPr>
              <a:t>・コンセプト → 要件 → 設計 → 開発の順に積み上げ、要件の正本は prd.md 1 本に決めた</a:t>
            </a:r>
          </a:p>
          <a:p>
            <a:pPr>
              <a:lnSpc>
                <a:spcPct val="125000"/>
              </a:lnSpc>
              <a:spcAft>
                <a:spcPts val="1125"/>
              </a:spcAft>
            </a:pPr>
            <a:r>
              <a:rPr sz="1500">
                <a:solidFill>
                  <a:srgbClr val="1B2A3A"/>
                </a:solidFill>
                <a:latin typeface="Calibri"/>
                <a:ea typeface="游ゴシック"/>
              </a:rPr>
              <a:t>・「何を作るか」は PRD、「なぜその技術か」は ADR（Architecture Decision Record）と役割を分けた</a:t>
            </a:r>
          </a:p>
          <a:p>
            <a:pPr>
              <a:lnSpc>
                <a:spcPct val="125000"/>
              </a:lnSpc>
              <a:spcAft>
                <a:spcPts val="1125"/>
              </a:spcAft>
            </a:pPr>
            <a:r>
              <a:rPr sz="1500">
                <a:solidFill>
                  <a:srgbClr val="1B2A3A"/>
                </a:solidFill>
                <a:latin typeface="Calibri"/>
                <a:ea typeface="游ゴシック"/>
              </a:rPr>
              <a:t>・決めきれない論点は open-questions.md に D-n 番号で残し、決まった分だけ PRD に反映する</a:t>
            </a:r>
          </a:p>
          <a:p>
            <a:pPr>
              <a:lnSpc>
                <a:spcPct val="125000"/>
              </a:lnSpc>
              <a:spcAft>
                <a:spcPts val="1125"/>
              </a:spcAft>
            </a:pPr>
            <a:r>
              <a:rPr sz="1500">
                <a:solidFill>
                  <a:srgbClr val="1B2A3A"/>
                </a:solidFill>
                <a:latin typeface="Calibri"/>
                <a:ea typeface="游ゴシック"/>
              </a:rPr>
              <a:t>・先に書いたおかげで、実装中に「これは決めたはず」と辿れる状態になった</a:t>
            </a:r>
          </a:p>
          <a:p>
            <a:pPr>
              <a:lnSpc>
                <a:spcPct val="125000"/>
              </a:lnSpc>
              <a:spcAft>
                <a:spcPts val="1125"/>
              </a:spcAft>
            </a:pPr>
            <a:r>
              <a:rPr sz="1500">
                <a:solidFill>
                  <a:srgbClr val="1B2A3A"/>
                </a:solidFill>
                <a:latin typeface="Calibri"/>
                <a:ea typeface="游ゴシック"/>
              </a:rPr>
              <a:t>・各ドキュメントは 16:9 のインフォグラフィック 1 枚に要約してあり、この発表でもそれを使っている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32000" cy="1008000"/>
          </a:xfrm>
          <a:prstGeom prst="rect">
            <a:avLst/>
          </a:prstGeom>
          <a:solidFill>
            <a:srgbClr val="1436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  <a:ea typeface="游ゴシック"/>
              </a:rPr>
              <a:t>依存は内側へ。中心のドメインは何も知らない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000" y="1368000"/>
            <a:ext cx="10908000" cy="52920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>
            <a:outerShdw blurRad="101600" dist="38100" dir="810000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00000" y="1656000"/>
            <a:ext cx="10332000" cy="4716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25000"/>
              </a:lnSpc>
              <a:spcAft>
                <a:spcPts val="1050"/>
              </a:spcAft>
            </a:pPr>
            <a:r>
              <a:rPr sz="1400">
                <a:solidFill>
                  <a:srgbClr val="1B2A3A"/>
                </a:solidFill>
                <a:latin typeface="Calibri"/>
                <a:ea typeface="游ゴシック"/>
              </a:rPr>
              <a:t>・7 層構成: domain / usecases / infrastructure / ui / composition / app（Next.js）/ shared</a:t>
            </a:r>
          </a:p>
          <a:p>
            <a:pPr>
              <a:lnSpc>
                <a:spcPct val="125000"/>
              </a:lnSpc>
              <a:spcAft>
                <a:spcPts val="1050"/>
              </a:spcAft>
            </a:pPr>
            <a:r>
              <a:rPr sz="1400">
                <a:solidFill>
                  <a:srgbClr val="1B2A3A"/>
                </a:solidFill>
                <a:latin typeface="Calibri"/>
                <a:ea typeface="游ゴシック"/>
              </a:rPr>
              <a:t>・唯一絶対の規則は「内側は外側を知らない」。src/domain/ は next も react も zod も import しない</a:t>
            </a:r>
          </a:p>
          <a:p>
            <a:pPr>
              <a:lnSpc>
                <a:spcPct val="125000"/>
              </a:lnSpc>
              <a:spcAft>
                <a:spcPts val="1050"/>
              </a:spcAft>
            </a:pPr>
            <a:r>
              <a:rPr sz="1400">
                <a:solidFill>
                  <a:srgbClr val="1B2A3A"/>
                </a:solidFill>
                <a:latin typeface="Calibri"/>
                <a:ea typeface="游ゴシック"/>
              </a:rPr>
              <a:t>・ユースケースは実装を import せず、ドメインが定義したポートを引数で受け取る（依存性逆転）</a:t>
            </a:r>
          </a:p>
          <a:p>
            <a:pPr>
              <a:lnSpc>
                <a:spcPct val="125000"/>
              </a:lnSpc>
              <a:spcAft>
                <a:spcPts val="1050"/>
              </a:spcAft>
            </a:pPr>
            <a:r>
              <a:rPr sz="1400">
                <a:solidFill>
                  <a:srgbClr val="1B2A3A"/>
                </a:solidFill>
                <a:latin typeface="Calibri"/>
                <a:ea typeface="游ゴシック"/>
              </a:rPr>
              <a:t>・app/ と ui/ から infrastructure/ への直 import は禁止。実装を束ねてよいのは composition/ だけ</a:t>
            </a:r>
          </a:p>
          <a:p>
            <a:pPr>
              <a:lnSpc>
                <a:spcPct val="125000"/>
              </a:lnSpc>
              <a:spcAft>
                <a:spcPts val="1050"/>
              </a:spcAft>
            </a:pPr>
            <a:r>
              <a:rPr sz="1400">
                <a:solidFill>
                  <a:srgbClr val="1B2A3A"/>
                </a:solidFill>
                <a:latin typeface="Calibri"/>
                <a:ea typeface="游ゴシック"/>
              </a:rPr>
              <a:t>・GitHub API と認証情報は infrastructure/github/、事業者固有 API は infrastructure/platform/ の中だけ</a:t>
            </a:r>
          </a:p>
          <a:p>
            <a:pPr>
              <a:lnSpc>
                <a:spcPct val="125000"/>
              </a:lnSpc>
              <a:spcAft>
                <a:spcPts val="1050"/>
              </a:spcAft>
            </a:pPr>
            <a:r>
              <a:rPr sz="1400">
                <a:solidFill>
                  <a:srgbClr val="1B2A3A"/>
                </a:solidFill>
                <a:latin typeface="Calibri"/>
                <a:ea typeface="游ゴシック"/>
              </a:rPr>
              <a:t>・ポートは 7 つ（検索・キャッシュ・レート制限・時刻・認証・Gem 索引・Gem ダイジェスト）</a:t>
            </a:r>
          </a:p>
          <a:p>
            <a:pPr>
              <a:lnSpc>
                <a:spcPct val="125000"/>
              </a:lnSpc>
              <a:spcAft>
                <a:spcPts val="1050"/>
              </a:spcAft>
            </a:pPr>
            <a:r>
              <a:rPr sz="1400">
                <a:solidFill>
                  <a:srgbClr val="1B2A3A"/>
                </a:solidFill>
                <a:latin typeface="Calibri"/>
                <a:ea typeface="游ゴシック"/>
              </a:rPr>
              <a:t>・Gem を足したときも層は増やさず、ポートを 2 つ足して中心の外側に閉じ込めた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32000" cy="1008000"/>
          </a:xfrm>
          <a:prstGeom prst="rect">
            <a:avLst/>
          </a:prstGeom>
          <a:solidFill>
            <a:srgbClr val="1436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  <a:ea typeface="游ゴシック"/>
              </a:rPr>
              <a:t>層を足す条件を、3 つに決めてある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000" y="1368000"/>
            <a:ext cx="10908000" cy="52920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>
            <a:outerShdw blurRad="101600" dist="38100" dir="810000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00000" y="1656000"/>
            <a:ext cx="10332000" cy="4716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25000"/>
              </a:lnSpc>
              <a:spcAft>
                <a:spcPts val="1125"/>
              </a:spcAft>
            </a:pPr>
            <a:r>
              <a:rPr sz="1500">
                <a:solidFill>
                  <a:srgbClr val="1B2A3A"/>
                </a:solidFill>
                <a:latin typeface="Calibri"/>
                <a:ea typeface="游ゴシック"/>
              </a:rPr>
              <a:t>・W-1 データ源を差し替えられる（被依存数・健全性の取得先が変わっても UI を書き換えない）</a:t>
            </a:r>
          </a:p>
          <a:p>
            <a:pPr>
              <a:lnSpc>
                <a:spcPct val="125000"/>
              </a:lnSpc>
              <a:spcAft>
                <a:spcPts val="1125"/>
              </a:spcAft>
            </a:pPr>
            <a:r>
              <a:rPr sz="1500">
                <a:solidFill>
                  <a:srgbClr val="1B2A3A"/>
                </a:solidFill>
                <a:latin typeface="Calibri"/>
                <a:ea typeface="游ゴシック"/>
              </a:rPr>
              <a:t>・W-2 事業者を差し替えられる（Cloudflare 固有の API をアプリ全体に染み出させない）</a:t>
            </a:r>
          </a:p>
          <a:p>
            <a:pPr>
              <a:lnSpc>
                <a:spcPct val="125000"/>
              </a:lnSpc>
              <a:spcAft>
                <a:spcPts val="1125"/>
              </a:spcAft>
            </a:pPr>
            <a:r>
              <a:rPr sz="1500">
                <a:solidFill>
                  <a:srgbClr val="1B2A3A"/>
                </a:solidFill>
                <a:latin typeface="Calibri"/>
                <a:ea typeface="游ゴシック"/>
              </a:rPr>
              <a:t>・W-3 速く確実にテストできる（中核ロジックがネットワークもフレームワークも要らずに動く）</a:t>
            </a:r>
          </a:p>
          <a:p>
            <a:pPr>
              <a:lnSpc>
                <a:spcPct val="125000"/>
              </a:lnSpc>
              <a:spcAft>
                <a:spcPts val="1125"/>
              </a:spcAft>
            </a:pPr>
            <a:r>
              <a:rPr sz="1500">
                <a:solidFill>
                  <a:srgbClr val="1B2A3A"/>
                </a:solidFill>
                <a:latin typeface="Calibri"/>
                <a:ea typeface="游ゴシック"/>
              </a:rPr>
              <a:t>・「クリーンアーキテクチャだから」は層を足す理由にならない。W-n のどれを守るか 1 行で言えることが条件</a:t>
            </a:r>
          </a:p>
          <a:p>
            <a:pPr>
              <a:lnSpc>
                <a:spcPct val="125000"/>
              </a:lnSpc>
              <a:spcAft>
                <a:spcPts val="1125"/>
              </a:spcAft>
            </a:pPr>
            <a:r>
              <a:rPr sz="1500">
                <a:solidFill>
                  <a:srgbClr val="1B2A3A"/>
                </a:solidFill>
                <a:latin typeface="Calibri"/>
                <a:ea typeface="游ゴシック"/>
              </a:rPr>
              <a:t>・唯一の意図的な例外がキャッシュ層。面積を get / set / invalidate + TTL に限る歯止めつきで認めた</a:t>
            </a:r>
          </a:p>
          <a:p>
            <a:pPr>
              <a:lnSpc>
                <a:spcPct val="125000"/>
              </a:lnSpc>
              <a:spcAft>
                <a:spcPts val="1125"/>
              </a:spcAft>
            </a:pPr>
            <a:r>
              <a:rPr sz="1500">
                <a:solidFill>
                  <a:srgbClr val="1B2A3A"/>
                </a:solidFill>
                <a:latin typeface="Calibri"/>
                <a:ea typeface="游ゴシック"/>
              </a:rPr>
              <a:t>・ARCH-1〜ARCH-7 は専用スクリプトが機械検査する。ARCH-4・ARCH-5 は抑止コメントも効かない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32000" cy="1008000"/>
          </a:xfrm>
          <a:prstGeom prst="rect">
            <a:avLst/>
          </a:prstGeom>
          <a:solidFill>
            <a:srgbClr val="1436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  <a:ea typeface="游ゴシック"/>
              </a:rPr>
              <a:t>Next.js 16 を Workers の上で動かす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000" y="1368000"/>
            <a:ext cx="10908000" cy="52920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>
            <a:outerShdw blurRad="101600" dist="38100" dir="810000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00000" y="1656000"/>
            <a:ext cx="10332000" cy="4716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25000"/>
              </a:lnSpc>
              <a:spcAft>
                <a:spcPts val="1125"/>
              </a:spcAft>
            </a:pPr>
            <a:r>
              <a:rPr sz="1500">
                <a:solidFill>
                  <a:srgbClr val="1B2A3A"/>
                </a:solidFill>
                <a:latin typeface="Calibri"/>
                <a:ea typeface="游ゴシック"/>
              </a:rPr>
              <a:t>・Next.js 16（App Router・React Server Components）で、クライアント JS を最小限に保つ</a:t>
            </a:r>
          </a:p>
          <a:p>
            <a:pPr>
              <a:lnSpc>
                <a:spcPct val="125000"/>
              </a:lnSpc>
              <a:spcAft>
                <a:spcPts val="1125"/>
              </a:spcAft>
            </a:pPr>
            <a:r>
              <a:rPr sz="1500">
                <a:solidFill>
                  <a:srgbClr val="1B2A3A"/>
                </a:solidFill>
                <a:latin typeface="Calibri"/>
                <a:ea typeface="游ゴシック"/>
              </a:rPr>
              <a:t>・UI は Tailwind CSS v4 + shadcn/ui（Radix UI）。デザイントークンを 1 か所に集約する</a:t>
            </a:r>
          </a:p>
          <a:p>
            <a:pPr>
              <a:lnSpc>
                <a:spcPct val="125000"/>
              </a:lnSpc>
              <a:spcAft>
                <a:spcPts val="1125"/>
              </a:spcAft>
            </a:pPr>
            <a:r>
              <a:rPr sz="1500">
                <a:solidFill>
                  <a:srgbClr val="1B2A3A"/>
                </a:solidFill>
                <a:latin typeface="Calibri"/>
                <a:ea typeface="游ゴシック"/>
              </a:rPr>
              <a:t>・実行環境は Cloudflare Workers。コールドスタートがほぼなく、無料枠で実用に足りる</a:t>
            </a:r>
          </a:p>
          <a:p>
            <a:pPr>
              <a:lnSpc>
                <a:spcPct val="125000"/>
              </a:lnSpc>
              <a:spcAft>
                <a:spcPts val="1125"/>
              </a:spcAft>
            </a:pPr>
            <a:r>
              <a:rPr sz="1500">
                <a:solidFill>
                  <a:srgbClr val="1B2A3A"/>
                </a:solidFill>
                <a:latin typeface="Calibri"/>
                <a:ea typeface="游ゴシック"/>
              </a:rPr>
              <a:t>・Next.js を Workers に載せているのは OpenNext（@opennextjs/cloudflare）というアダプタ</a:t>
            </a:r>
          </a:p>
          <a:p>
            <a:pPr>
              <a:lnSpc>
                <a:spcPct val="125000"/>
              </a:lnSpc>
              <a:spcAft>
                <a:spcPts val="1125"/>
              </a:spcAft>
            </a:pPr>
            <a:r>
              <a:rPr sz="1500">
                <a:solidFill>
                  <a:srgbClr val="1B2A3A"/>
                </a:solidFill>
                <a:latin typeface="Calibri"/>
                <a:ea typeface="游ゴシック"/>
              </a:rPr>
              <a:t>・テストは Vitest 4 + Testing Library + MSW 2（単体・結合）と Playwright + axe（E2E）</a:t>
            </a:r>
          </a:p>
          <a:p>
            <a:pPr>
              <a:lnSpc>
                <a:spcPct val="125000"/>
              </a:lnSpc>
              <a:spcAft>
                <a:spcPts val="1125"/>
              </a:spcAft>
            </a:pPr>
            <a:r>
              <a:rPr sz="1500">
                <a:solidFill>
                  <a:srgbClr val="1B2A3A"/>
                </a:solidFill>
                <a:latin typeface="Calibri"/>
                <a:ea typeface="游ゴシック"/>
              </a:rPr>
              <a:t>・この組み合わせは「事業者固有の API をアプリコードへ持ち込まない」という制約から選んでいる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32000" cy="1008000"/>
          </a:xfrm>
          <a:prstGeom prst="rect">
            <a:avLst/>
          </a:prstGeom>
          <a:solidFill>
            <a:srgbClr val="1436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  <a:ea typeface="游ゴシック"/>
              </a:rPr>
              <a:t>同じコードでも、プレビューでだけ壊れる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000" y="1368000"/>
            <a:ext cx="10908000" cy="52920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>
            <a:outerShdw blurRad="101600" dist="38100" dir="810000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00000" y="1656000"/>
            <a:ext cx="10332000" cy="4716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25000"/>
              </a:lnSpc>
              <a:spcAft>
                <a:spcPts val="1050"/>
              </a:spcAft>
            </a:pPr>
            <a:r>
              <a:rPr sz="1400">
                <a:solidFill>
                  <a:srgbClr val="1B2A3A"/>
                </a:solidFill>
                <a:latin typeface="Calibri"/>
                <a:ea typeface="游ゴシック"/>
              </a:rPr>
              <a:t>・redirects の destination に :path を書くと、プレビューでだけ 500 になる</a:t>
            </a:r>
          </a:p>
          <a:p>
            <a:pPr>
              <a:lnSpc>
                <a:spcPct val="125000"/>
              </a:lnSpc>
              <a:spcAft>
                <a:spcPts val="1050"/>
              </a:spcAft>
            </a:pPr>
            <a:r>
              <a:rPr sz="1400">
                <a:solidFill>
                  <a:srgbClr val="1B2A3A"/>
                </a:solidFill>
                <a:latin typeface="Calibri"/>
                <a:ea typeface="游ゴシック"/>
              </a:rPr>
              <a:t>・原因は OpenNext が path-to-regexp を validate: true で呼ぶこと（Next.js 本体は false）</a:t>
            </a:r>
          </a:p>
          <a:p>
            <a:pPr>
              <a:lnSpc>
                <a:spcPct val="125000"/>
              </a:lnSpc>
              <a:spcAft>
                <a:spcPts val="1050"/>
              </a:spcAft>
            </a:pPr>
            <a:r>
              <a:rPr sz="1400">
                <a:solidFill>
                  <a:srgbClr val="1B2A3A"/>
                </a:solidFill>
                <a:latin typeface="Calibri"/>
                <a:ea typeface="游ゴシック"/>
              </a:rPr>
              <a:t>・拡張子付きパスは /repos/angular/angular.js が 404、/ja を付けると 200 になる</a:t>
            </a:r>
          </a:p>
          <a:p>
            <a:pPr>
              <a:lnSpc>
                <a:spcPct val="125000"/>
              </a:lnSpc>
              <a:spcAft>
                <a:spcPts val="1050"/>
              </a:spcAft>
            </a:pPr>
            <a:r>
              <a:rPr sz="1400">
                <a:solidFill>
                  <a:srgbClr val="1B2A3A"/>
                </a:solidFill>
                <a:latin typeface="Calibri"/>
                <a:ea typeface="游ゴシック"/>
              </a:rPr>
              <a:t>・本番ビルドの npm は依存の install スクリプトを既定で止めるので、そこでだけ落ちた</a:t>
            </a:r>
          </a:p>
          <a:p>
            <a:pPr>
              <a:lnSpc>
                <a:spcPct val="125000"/>
              </a:lnSpc>
              <a:spcAft>
                <a:spcPts val="1050"/>
              </a:spcAft>
            </a:pPr>
            <a:r>
              <a:rPr sz="1400">
                <a:solidFill>
                  <a:srgbClr val="1B2A3A"/>
                </a:solidFill>
                <a:latin typeface="Calibri"/>
                <a:ea typeface="游ゴシック"/>
              </a:rPr>
              <a:t>・wrangler deploy がブロックされることがある（実測 5 回失敗・2 回成功の非決定的挙動）</a:t>
            </a:r>
          </a:p>
          <a:p>
            <a:pPr>
              <a:lnSpc>
                <a:spcPct val="125000"/>
              </a:lnSpc>
              <a:spcAft>
                <a:spcPts val="1050"/>
              </a:spcAft>
            </a:pPr>
            <a:r>
              <a:rPr sz="1400">
                <a:solidFill>
                  <a:srgbClr val="1B2A3A"/>
                </a:solidFill>
                <a:latin typeface="Calibri"/>
                <a:ea typeface="游ゴシック"/>
              </a:rPr>
              <a:t>・どれもローカルの next start では再現せず、上げて初めて壊れた</a:t>
            </a:r>
          </a:p>
          <a:p>
            <a:pPr>
              <a:lnSpc>
                <a:spcPct val="125000"/>
              </a:lnSpc>
              <a:spcAft>
                <a:spcPts val="1050"/>
              </a:spcAft>
            </a:pPr>
            <a:r>
              <a:rPr sz="1400">
                <a:solidFill>
                  <a:srgbClr val="1B2A3A"/>
                </a:solidFill>
                <a:latin typeface="Calibri"/>
                <a:ea typeface="游ゴシック"/>
              </a:rPr>
              <a:t>・以後「動いた」ではなく「どの環境で、どこまで見たか」で記録するようにした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32000" cy="1008000"/>
          </a:xfrm>
          <a:prstGeom prst="rect">
            <a:avLst/>
          </a:prstGeom>
          <a:solidFill>
            <a:srgbClr val="1436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  <a:ea typeface="游ゴシック"/>
              </a:rPr>
              <a:t>1 セッションを 1 スプリントとして回す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000" y="1368000"/>
            <a:ext cx="10908000" cy="52920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>
            <a:outerShdw blurRad="101600" dist="38100" dir="810000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00000" y="1656000"/>
            <a:ext cx="10332000" cy="4716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25000"/>
              </a:lnSpc>
              <a:spcAft>
                <a:spcPts val="1125"/>
              </a:spcAft>
            </a:pPr>
            <a:r>
              <a:rPr sz="1500">
                <a:solidFill>
                  <a:srgbClr val="1B2A3A"/>
                </a:solidFill>
                <a:latin typeface="Calibri"/>
                <a:ea typeface="游ゴシック"/>
              </a:rPr>
              <a:t>・着手したらまず Issue を status:in-progress にして論理ロックを取る</a:t>
            </a:r>
          </a:p>
          <a:p>
            <a:pPr>
              <a:lnSpc>
                <a:spcPct val="125000"/>
              </a:lnSpc>
              <a:spcAft>
                <a:spcPts val="1125"/>
              </a:spcAft>
            </a:pPr>
            <a:r>
              <a:rPr sz="1500">
                <a:solidFill>
                  <a:srgbClr val="1B2A3A"/>
                </a:solidFill>
                <a:latin typeface="Calibri"/>
                <a:ea typeface="游ゴシック"/>
              </a:rPr>
              <a:t>・スプリントゴールと編成（どの役割を何人置くか）を Issue に記録してから実装に入る</a:t>
            </a:r>
          </a:p>
          <a:p>
            <a:pPr>
              <a:lnSpc>
                <a:spcPct val="125000"/>
              </a:lnSpc>
              <a:spcAft>
                <a:spcPts val="1125"/>
              </a:spcAft>
            </a:pPr>
            <a:r>
              <a:rPr sz="1500">
                <a:solidFill>
                  <a:srgbClr val="1B2A3A"/>
                </a:solidFill>
                <a:latin typeface="Calibri"/>
                <a:ea typeface="游ゴシック"/>
              </a:rPr>
              <a:t>・確認を求めてよいのは A-1〜A-6（main への直接 push・課金設定など不可逆な操作）だけ</a:t>
            </a:r>
          </a:p>
          <a:p>
            <a:pPr>
              <a:lnSpc>
                <a:spcPct val="125000"/>
              </a:lnSpc>
              <a:spcAft>
                <a:spcPts val="1125"/>
              </a:spcAft>
            </a:pPr>
            <a:r>
              <a:rPr sz="1500">
                <a:solidFill>
                  <a:srgbClr val="1B2A3A"/>
                </a:solidFill>
                <a:latin typeface="Calibri"/>
                <a:ea typeface="游ゴシック"/>
              </a:rPr>
              <a:t>・もう 1 つの例外は、仕様解釈が 2 通り以上あって選択で成果物が変わるとき</a:t>
            </a:r>
          </a:p>
          <a:p>
            <a:pPr>
              <a:lnSpc>
                <a:spcPct val="125000"/>
              </a:lnSpc>
              <a:spcAft>
                <a:spcPts val="1125"/>
              </a:spcAft>
            </a:pPr>
            <a:r>
              <a:rPr sz="1500">
                <a:solidFill>
                  <a:srgbClr val="1B2A3A"/>
                </a:solidFill>
                <a:latin typeface="Calibri"/>
                <a:ea typeface="游ゴシック"/>
              </a:rPr>
              <a:t>・最初は各段階で確認を挟んでいたが、待ち時間がボトルネックになったので線引きを絞った</a:t>
            </a:r>
          </a:p>
          <a:p>
            <a:pPr>
              <a:lnSpc>
                <a:spcPct val="125000"/>
              </a:lnSpc>
              <a:spcAft>
                <a:spcPts val="1125"/>
              </a:spcAft>
            </a:pPr>
            <a:r>
              <a:rPr sz="1500">
                <a:solidFill>
                  <a:srgbClr val="1B2A3A"/>
                </a:solidFill>
                <a:latin typeface="Calibri"/>
                <a:ea typeface="游ゴシック"/>
              </a:rPr>
              <a:t>・セッションが途中で切れても、Issue のラベルと記録から次のセッションが再開できる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32000" cy="1008000"/>
          </a:xfrm>
          <a:prstGeom prst="rect">
            <a:avLst/>
          </a:prstGeom>
          <a:solidFill>
            <a:srgbClr val="1436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  <a:ea typeface="游ゴシック"/>
              </a:rPr>
              <a:t>テストを先に書き、緑でなければ進めない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000" y="1368000"/>
            <a:ext cx="10908000" cy="52920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>
            <a:outerShdw blurRad="101600" dist="38100" dir="810000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00000" y="1656000"/>
            <a:ext cx="10332000" cy="4716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25000"/>
              </a:lnSpc>
              <a:spcAft>
                <a:spcPts val="1050"/>
              </a:spcAft>
            </a:pPr>
            <a:r>
              <a:rPr sz="1400">
                <a:solidFill>
                  <a:srgbClr val="1B2A3A"/>
                </a:solidFill>
                <a:latin typeface="Calibri"/>
                <a:ea typeface="游ゴシック"/>
              </a:rPr>
              <a:t>・Red → Green → Refactor の順を崩さない。テストを後から足す順序を取らない</a:t>
            </a:r>
          </a:p>
          <a:p>
            <a:pPr>
              <a:lnSpc>
                <a:spcPct val="125000"/>
              </a:lnSpc>
              <a:spcAft>
                <a:spcPts val="1050"/>
              </a:spcAft>
            </a:pPr>
            <a:r>
              <a:rPr sz="1400">
                <a:solidFill>
                  <a:srgbClr val="1B2A3A"/>
                </a:solidFill>
                <a:latin typeface="Calibri"/>
                <a:ea typeface="游ゴシック"/>
              </a:rPr>
              <a:t>・単体・結合は Vitest + MSW でネットワークに触らず、E2E は Playwright + axe で実ブラウザを動かす</a:t>
            </a:r>
          </a:p>
          <a:p>
            <a:pPr>
              <a:lnSpc>
                <a:spcPct val="125000"/>
              </a:lnSpc>
              <a:spcAft>
                <a:spcPts val="1050"/>
              </a:spcAft>
            </a:pPr>
            <a:r>
              <a:rPr sz="1400">
                <a:solidFill>
                  <a:srgbClr val="1B2A3A"/>
                </a:solidFill>
                <a:latin typeface="Calibri"/>
                <a:ea typeface="游ゴシック"/>
              </a:rPr>
              <a:t>・操作レビューの手順をそのまま E2E に写すので、手で確かめたことが以後は自動で守られる</a:t>
            </a:r>
          </a:p>
          <a:p>
            <a:pPr>
              <a:lnSpc>
                <a:spcPct val="125000"/>
              </a:lnSpc>
              <a:spcAft>
                <a:spcPts val="1050"/>
              </a:spcAft>
            </a:pPr>
            <a:r>
              <a:rPr sz="1400">
                <a:solidFill>
                  <a:srgbClr val="1B2A3A"/>
                </a:solidFill>
                <a:latin typeface="Calibri"/>
                <a:ea typeface="游ゴシック"/>
              </a:rPr>
              <a:t>・いまの規模は単体・結合が 779 ケース、E2E が 106 ケース（2026-08-23 時点）</a:t>
            </a:r>
          </a:p>
          <a:p>
            <a:pPr>
              <a:lnSpc>
                <a:spcPct val="125000"/>
              </a:lnSpc>
              <a:spcAft>
                <a:spcPts val="1050"/>
              </a:spcAft>
            </a:pPr>
            <a:r>
              <a:rPr sz="1400">
                <a:solidFill>
                  <a:srgbClr val="1B2A3A"/>
                </a:solidFill>
                <a:latin typeface="Calibri"/>
                <a:ea typeface="游ゴシック"/>
              </a:rPr>
              <a:t>・テストのスキップ・無効化で緑にしない。落ちたまま次のタスクに進まない</a:t>
            </a:r>
          </a:p>
          <a:p>
            <a:pPr>
              <a:lnSpc>
                <a:spcPct val="125000"/>
              </a:lnSpc>
              <a:spcAft>
                <a:spcPts val="1050"/>
              </a:spcAft>
            </a:pPr>
            <a:r>
              <a:rPr sz="1400">
                <a:solidFill>
                  <a:srgbClr val="1B2A3A"/>
                </a:solidFill>
                <a:latin typeface="Calibri"/>
                <a:ea typeface="游ゴシック"/>
              </a:rPr>
              <a:t>・外部 API はすべてモック化してあり、環境変数を 1 つも設定しなくてもテストが完走する</a:t>
            </a:r>
          </a:p>
          <a:p>
            <a:pPr>
              <a:lnSpc>
                <a:spcPct val="125000"/>
              </a:lnSpc>
              <a:spcAft>
                <a:spcPts val="1050"/>
              </a:spcAft>
            </a:pPr>
            <a:r>
              <a:rPr sz="1400">
                <a:solidFill>
                  <a:srgbClr val="1B2A3A"/>
                </a:solidFill>
                <a:latin typeface="Calibri"/>
                <a:ea typeface="游ゴシック"/>
              </a:rPr>
              <a:t>・テストを後回しにした回は、動くものは早くできても後から直すコストの方が高くついた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32000" cy="1008000"/>
          </a:xfrm>
          <a:prstGeom prst="rect">
            <a:avLst/>
          </a:prstGeom>
          <a:solidFill>
            <a:srgbClr val="1436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  <a:ea typeface="游ゴシック"/>
              </a:rPr>
              <a:t>機械検証を通さないと PR を出せない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000" y="1368000"/>
            <a:ext cx="10908000" cy="52920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>
            <a:outerShdw blurRad="101600" dist="38100" dir="810000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00000" y="1656000"/>
            <a:ext cx="10332000" cy="4716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25000"/>
              </a:lnSpc>
              <a:spcAft>
                <a:spcPts val="1050"/>
              </a:spcAft>
            </a:pPr>
            <a:r>
              <a:rPr sz="1400">
                <a:solidFill>
                  <a:srgbClr val="1B2A3A"/>
                </a:solidFill>
                <a:latin typeface="Calibri"/>
                <a:ea typeface="游ゴシック"/>
              </a:rPr>
              <a:t>・品質ゲートと本番デプロイに GitHub Actions は使わず、セッション自身が npm run check を走らせる</a:t>
            </a:r>
          </a:p>
          <a:p>
            <a:pPr>
              <a:lnSpc>
                <a:spcPct val="125000"/>
              </a:lnSpc>
              <a:spcAft>
                <a:spcPts val="1050"/>
              </a:spcAft>
            </a:pPr>
            <a:r>
              <a:rPr sz="1400">
                <a:solidFill>
                  <a:srgbClr val="1B2A3A"/>
                </a:solidFill>
                <a:latin typeface="Calibri"/>
                <a:ea typeface="游ゴシック"/>
              </a:rPr>
              <a:t>・Actions の唯一の用途は Gem 候補プールの日次生成で、PR を作るところまでしかやらせない</a:t>
            </a:r>
          </a:p>
          <a:p>
            <a:pPr>
              <a:lnSpc>
                <a:spcPct val="125000"/>
              </a:lnSpc>
              <a:spcAft>
                <a:spcPts val="1050"/>
              </a:spcAft>
            </a:pPr>
            <a:r>
              <a:rPr sz="1400">
                <a:solidFill>
                  <a:srgbClr val="1B2A3A"/>
                </a:solidFill>
                <a:latin typeface="Calibri"/>
                <a:ea typeface="游ゴシック"/>
              </a:rPr>
              <a:t>・検査は 38 項目。lint・型・テスト・E2E・Lighthouse の 5 点に、静的検査 15 点を重ねる</a:t>
            </a:r>
          </a:p>
          <a:p>
            <a:pPr>
              <a:lnSpc>
                <a:spcPct val="125000"/>
              </a:lnSpc>
              <a:spcAft>
                <a:spcPts val="1050"/>
              </a:spcAft>
            </a:pPr>
            <a:r>
              <a:rPr sz="1400">
                <a:solidFill>
                  <a:srgbClr val="1B2A3A"/>
                </a:solidFill>
                <a:latin typeface="Calibri"/>
                <a:ea typeface="游ゴシック"/>
              </a:rPr>
              <a:t>・残る 18 点は運用ツール自身の self-test で、判定ロジックが壊れたことに機械で気づける</a:t>
            </a:r>
          </a:p>
          <a:p>
            <a:pPr>
              <a:lnSpc>
                <a:spcPct val="125000"/>
              </a:lnSpc>
              <a:spcAft>
                <a:spcPts val="1050"/>
              </a:spcAft>
            </a:pPr>
            <a:r>
              <a:rPr sz="1400">
                <a:solidFill>
                  <a:srgbClr val="1B2A3A"/>
                </a:solidFill>
                <a:latin typeface="Calibri"/>
                <a:ea typeface="游ゴシック"/>
              </a:rPr>
              <a:t>・結果の Markdown 表を PR 本文に貼るのが必須。貼っていないとフックが PR 作成をブロックする</a:t>
            </a:r>
          </a:p>
          <a:p>
            <a:pPr>
              <a:lnSpc>
                <a:spcPct val="125000"/>
              </a:lnSpc>
              <a:spcAft>
                <a:spcPts val="1050"/>
              </a:spcAft>
            </a:pPr>
            <a:r>
              <a:rPr sz="1400">
                <a:solidFill>
                  <a:srgbClr val="1B2A3A"/>
                </a:solidFill>
                <a:latin typeface="Calibri"/>
                <a:ea typeface="游ゴシック"/>
              </a:rPr>
              <a:t>・アーキテクチャの依存規則もここで落ちるので、規律が文書だけで終わらない</a:t>
            </a:r>
          </a:p>
          <a:p>
            <a:pPr>
              <a:lnSpc>
                <a:spcPct val="125000"/>
              </a:lnSpc>
              <a:spcAft>
                <a:spcPts val="1050"/>
              </a:spcAft>
            </a:pPr>
            <a:r>
              <a:rPr sz="1400">
                <a:solidFill>
                  <a:srgbClr val="1B2A3A"/>
                </a:solidFill>
                <a:latin typeface="Calibri"/>
                <a:ea typeface="游ゴシック"/>
              </a:rPr>
              <a:t>・機械で落とせるものは人が見ない。レビューは設計判断に集中できる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32000" cy="1008000"/>
          </a:xfrm>
          <a:prstGeom prst="rect">
            <a:avLst/>
          </a:prstGeom>
          <a:solidFill>
            <a:srgbClr val="1436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  <a:ea typeface="游ゴシック"/>
              </a:rPr>
              <a:t>レビューは、他人の PR として読み直す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000" y="1368000"/>
            <a:ext cx="10908000" cy="52920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>
            <a:outerShdw blurRad="101600" dist="38100" dir="810000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00000" y="1656000"/>
            <a:ext cx="10332000" cy="4716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25000"/>
              </a:lnSpc>
              <a:spcAft>
                <a:spcPts val="1125"/>
              </a:spcAft>
            </a:pPr>
            <a:r>
              <a:rPr sz="1500">
                <a:solidFill>
                  <a:srgbClr val="1B2A3A"/>
                </a:solidFill>
                <a:latin typeface="Calibri"/>
                <a:ea typeface="游ゴシック"/>
              </a:rPr>
              <a:t>・外部 AI レビュアー（Copilot・Gemini）は廃止。レビューは自前の /code-review で完結させる</a:t>
            </a:r>
          </a:p>
          <a:p>
            <a:pPr>
              <a:lnSpc>
                <a:spcPct val="125000"/>
              </a:lnSpc>
              <a:spcAft>
                <a:spcPts val="1125"/>
              </a:spcAft>
            </a:pPr>
            <a:r>
              <a:rPr sz="1500">
                <a:solidFill>
                  <a:srgbClr val="1B2A3A"/>
                </a:solidFill>
                <a:latin typeface="Calibri"/>
                <a:ea typeface="游ゴシック"/>
              </a:rPr>
              <a:t>・第 1 段: 観点別に 5〜7 体のサブエージェントを並列起動し、事前文脈なしで差分を読ませる</a:t>
            </a:r>
          </a:p>
          <a:p>
            <a:pPr>
              <a:lnSpc>
                <a:spcPct val="125000"/>
              </a:lnSpc>
              <a:spcAft>
                <a:spcPts val="1125"/>
              </a:spcAft>
            </a:pPr>
            <a:r>
              <a:rPr sz="1500">
                <a:solidFill>
                  <a:srgbClr val="1B2A3A"/>
                </a:solidFill>
                <a:latin typeface="Calibri"/>
                <a:ea typeface="游ゴシック"/>
              </a:rPr>
              <a:t>・自分が書いたコードを自分で読むと盲点が残るため、あえて文脈を持たない読み手を立てる</a:t>
            </a:r>
          </a:p>
          <a:p>
            <a:pPr>
              <a:lnSpc>
                <a:spcPct val="125000"/>
              </a:lnSpc>
              <a:spcAft>
                <a:spcPts val="1125"/>
              </a:spcAft>
            </a:pPr>
            <a:r>
              <a:rPr sz="1500">
                <a:solidFill>
                  <a:srgbClr val="1B2A3A"/>
                </a:solidFill>
                <a:latin typeface="Calibri"/>
                <a:ea typeface="游ゴシック"/>
              </a:rPr>
              <a:t>・第 2 段: 指摘ごとに反証担当を立て、反証に耐えたものを CONFIRMED、疑いが残るものを PLAUSIBLE と明記する</a:t>
            </a:r>
          </a:p>
          <a:p>
            <a:pPr>
              <a:lnSpc>
                <a:spcPct val="125000"/>
              </a:lnSpc>
              <a:spcAft>
                <a:spcPts val="1125"/>
              </a:spcAft>
            </a:pPr>
            <a:r>
              <a:rPr sz="1500">
                <a:solidFill>
                  <a:srgbClr val="1B2A3A"/>
                </a:solidFill>
                <a:latin typeface="Calibri"/>
                <a:ea typeface="游ゴシック"/>
              </a:rPr>
              <a:t>・第 3 段: 確度を問わず全件を行単位のインラインコメントに残す。指摘ゼロでもレビューを 1 件投稿する</a:t>
            </a:r>
          </a:p>
          <a:p>
            <a:pPr>
              <a:lnSpc>
                <a:spcPct val="125000"/>
              </a:lnSpc>
              <a:spcAft>
                <a:spcPts val="1125"/>
              </a:spcAft>
            </a:pPr>
            <a:r>
              <a:rPr sz="1500">
                <a:solidFill>
                  <a:srgbClr val="1B2A3A"/>
                </a:solidFill>
                <a:latin typeface="Calibri"/>
                <a:ea typeface="游ゴシック"/>
              </a:rPr>
              <a:t>・対応しないと決めた指摘も、理由を返信してから Resolve する。黙って閉じない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32000" cy="1008000"/>
          </a:xfrm>
          <a:prstGeom prst="rect">
            <a:avLst/>
          </a:prstGeom>
          <a:solidFill>
            <a:srgbClr val="1436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  <a:ea typeface="游ゴシック"/>
              </a:rPr>
              <a:t>実装からマージまで、確認なしで走り切る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000" y="1368000"/>
            <a:ext cx="10908000" cy="52920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>
            <a:outerShdw blurRad="101600" dist="38100" dir="810000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00000" y="1656000"/>
            <a:ext cx="10332000" cy="4716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25000"/>
              </a:lnSpc>
              <a:spcAft>
                <a:spcPts val="1050"/>
              </a:spcAft>
            </a:pPr>
            <a:r>
              <a:rPr sz="1400">
                <a:solidFill>
                  <a:srgbClr val="1B2A3A"/>
                </a:solidFill>
                <a:latin typeface="Calibri"/>
                <a:ea typeface="游ゴシック"/>
              </a:rPr>
              <a:t>・実装 → セルフレビュー → PR 作成 → 機械ゲート + セルフレビュー → 指摘対応 → squash マージまで一続きで進む</a:t>
            </a:r>
          </a:p>
          <a:p>
            <a:pPr>
              <a:lnSpc>
                <a:spcPct val="125000"/>
              </a:lnSpc>
              <a:spcAft>
                <a:spcPts val="1050"/>
              </a:spcAft>
            </a:pPr>
            <a:r>
              <a:rPr sz="1400">
                <a:solidFill>
                  <a:srgbClr val="1B2A3A"/>
                </a:solidFill>
                <a:latin typeface="Calibri"/>
                <a:ea typeface="游ゴシック"/>
              </a:rPr>
              <a:t>・PR 本文には Sprint Goal・sp（見積もり）・Session-Id・Team（編成）を必ず書く</a:t>
            </a:r>
          </a:p>
          <a:p>
            <a:pPr>
              <a:lnSpc>
                <a:spcPct val="125000"/>
              </a:lnSpc>
              <a:spcAft>
                <a:spcPts val="1050"/>
              </a:spcAft>
            </a:pPr>
            <a:r>
              <a:rPr sz="1400">
                <a:solidFill>
                  <a:srgbClr val="1B2A3A"/>
                </a:solidFill>
                <a:latin typeface="Calibri"/>
                <a:ea typeface="游ゴシック"/>
              </a:rPr>
              <a:t>・Session-Id があるので、セッションが切れても「自分が出した PR」を後から決定論的に回収できる</a:t>
            </a:r>
          </a:p>
          <a:p>
            <a:pPr>
              <a:lnSpc>
                <a:spcPct val="125000"/>
              </a:lnSpc>
              <a:spcAft>
                <a:spcPts val="1050"/>
              </a:spcAft>
            </a:pPr>
            <a:r>
              <a:rPr sz="1400">
                <a:solidFill>
                  <a:srgbClr val="1B2A3A"/>
                </a:solidFill>
                <a:latin typeface="Calibri"/>
                <a:ea typeface="游ゴシック"/>
              </a:rPr>
              <a:t>・同じ箇所の修正サイクルが 2 回を超えたらサーキットブレーカーで止め、根本原因を分析して報告する</a:t>
            </a:r>
          </a:p>
          <a:p>
            <a:pPr>
              <a:lnSpc>
                <a:spcPct val="125000"/>
              </a:lnSpc>
              <a:spcAft>
                <a:spcPts val="1050"/>
              </a:spcAft>
            </a:pPr>
            <a:r>
              <a:rPr sz="1400">
                <a:solidFill>
                  <a:srgbClr val="1B2A3A"/>
                </a:solidFill>
                <a:latin typeface="Calibri"/>
                <a:ea typeface="游ゴシック"/>
              </a:rPr>
              <a:t>・止める条件を先に決めておくことが、確認を挟まずに走らせるための前提になっている</a:t>
            </a:r>
          </a:p>
          <a:p>
            <a:pPr>
              <a:lnSpc>
                <a:spcPct val="125000"/>
              </a:lnSpc>
              <a:spcAft>
                <a:spcPts val="1050"/>
              </a:spcAft>
            </a:pPr>
            <a:r>
              <a:rPr sz="1400">
                <a:solidFill>
                  <a:srgbClr val="1B2A3A"/>
                </a:solidFill>
                <a:latin typeface="Calibri"/>
                <a:ea typeface="游ゴシック"/>
              </a:rPr>
              <a:t>・この運用でマージ済みの PR は 120 件（2026-08-23 時点・GitHub API の実測）</a:t>
            </a:r>
          </a:p>
          <a:p>
            <a:pPr>
              <a:lnSpc>
                <a:spcPct val="125000"/>
              </a:lnSpc>
              <a:spcAft>
                <a:spcPts val="1050"/>
              </a:spcAft>
            </a:pPr>
            <a:r>
              <a:rPr sz="1400">
                <a:solidFill>
                  <a:srgbClr val="1B2A3A"/>
                </a:solidFill>
                <a:latin typeface="Calibri"/>
                <a:ea typeface="游ゴシック"/>
              </a:rPr>
              <a:t>・速度の効果は測っていないので語らない。言えるのは「この手順で回っている」ことだけ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32000" cy="1008000"/>
          </a:xfrm>
          <a:prstGeom prst="rect">
            <a:avLst/>
          </a:prstGeom>
          <a:solidFill>
            <a:srgbClr val="1436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  <a:ea typeface="游ゴシック"/>
              </a:rPr>
              <a:t>Gem Index は順位の残差で作る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000" y="1368000"/>
            <a:ext cx="10908000" cy="52920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>
            <a:outerShdw blurRad="101600" dist="38100" dir="810000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00000" y="1656000"/>
            <a:ext cx="10332000" cy="4716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25000"/>
              </a:lnSpc>
              <a:spcAft>
                <a:spcPts val="1050"/>
              </a:spcAft>
            </a:pPr>
            <a:r>
              <a:rPr sz="1400">
                <a:solidFill>
                  <a:srgbClr val="1B2A3A"/>
                </a:solidFill>
                <a:latin typeface="Calibri"/>
                <a:ea typeface="游ゴシック"/>
              </a:rPr>
              <a:t>・エコシステム内での「被依存数のパーセンタイル順位」から「star のパーセンタイル順位」を引く</a:t>
            </a:r>
          </a:p>
          <a:p>
            <a:pPr>
              <a:lnSpc>
                <a:spcPct val="125000"/>
              </a:lnSpc>
              <a:spcAft>
                <a:spcPts val="1050"/>
              </a:spcAft>
            </a:pPr>
            <a:r>
              <a:rPr sz="1400">
                <a:solidFill>
                  <a:srgbClr val="1B2A3A"/>
                </a:solidFill>
                <a:latin typeface="Calibri"/>
                <a:ea typeface="游ゴシック"/>
              </a:rPr>
              <a:t>・パーセンタイル順位で比べるので、言語やエコシステムの規模が違っても同じ尺度に乗る</a:t>
            </a:r>
          </a:p>
          <a:p>
            <a:pPr>
              <a:lnSpc>
                <a:spcPct val="125000"/>
              </a:lnSpc>
              <a:spcAft>
                <a:spcPts val="1050"/>
              </a:spcAft>
            </a:pPr>
            <a:r>
              <a:rPr sz="1400">
                <a:solidFill>
                  <a:srgbClr val="1B2A3A"/>
                </a:solidFill>
                <a:latin typeface="Calibri"/>
                <a:ea typeface="游ゴシック"/>
              </a:rPr>
              <a:t>・star を水増しすると値は下がる。偽 star に構造的に強い</a:t>
            </a:r>
          </a:p>
          <a:p>
            <a:pPr>
              <a:lnSpc>
                <a:spcPct val="125000"/>
              </a:lnSpc>
              <a:spcAft>
                <a:spcPts val="1050"/>
              </a:spcAft>
            </a:pPr>
            <a:r>
              <a:rPr sz="1400">
                <a:solidFill>
                  <a:srgbClr val="1B2A3A"/>
                </a:solidFill>
                <a:latin typeface="Calibri"/>
                <a:ea typeface="游ゴシック"/>
              </a:rPr>
              <a:t>・健全性は criticality_score（OpenSSF の既存指標）をそのまま使い、自作しないと決めてある</a:t>
            </a:r>
          </a:p>
          <a:p>
            <a:pPr>
              <a:lnSpc>
                <a:spcPct val="125000"/>
              </a:lnSpc>
              <a:spcAft>
                <a:spcPts val="1050"/>
              </a:spcAft>
            </a:pPr>
            <a:r>
              <a:rPr sz="1400">
                <a:solidFill>
                  <a:srgbClr val="1B2A3A"/>
                </a:solidFill>
                <a:latin typeface="Calibri"/>
                <a:ea typeface="游ゴシック"/>
              </a:rPr>
              <a:t>・ただし今効いている足切りは star 下限 5 の汚染フィルタで、健全性の指標はまだ入れていない</a:t>
            </a:r>
          </a:p>
          <a:p>
            <a:pPr>
              <a:lnSpc>
                <a:spcPct val="125000"/>
              </a:lnSpc>
              <a:spcAft>
                <a:spcPts val="1050"/>
              </a:spcAft>
            </a:pPr>
            <a:r>
              <a:rPr sz="1400">
                <a:solidFill>
                  <a:srgbClr val="1B2A3A"/>
                </a:solidFill>
                <a:latin typeface="Calibri"/>
                <a:ea typeface="游ゴシック"/>
              </a:rPr>
              <a:t>・被依存数は Ecosyste.ms の 12 レジストリ、star は GitHub API から取る</a:t>
            </a:r>
          </a:p>
          <a:p>
            <a:pPr>
              <a:lnSpc>
                <a:spcPct val="125000"/>
              </a:lnSpc>
              <a:spcAft>
                <a:spcPts val="1050"/>
              </a:spcAft>
            </a:pPr>
            <a:r>
              <a:rPr sz="1400">
                <a:solidFill>
                  <a:srgbClr val="1B2A3A"/>
                </a:solidFill>
                <a:latin typeface="Calibri"/>
                <a:ea typeface="游ゴシック"/>
              </a:rPr>
              <a:t>・Ecosyste.ms のデータは CC BY-SA 4.0。画面に出典・ライセンス・生成時刻を明記している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32000" cy="1008000"/>
          </a:xfrm>
          <a:prstGeom prst="rect">
            <a:avLst/>
          </a:prstGeom>
          <a:solidFill>
            <a:srgbClr val="1436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  <a:ea typeface="游ゴシック"/>
              </a:rPr>
              <a:t>作った差別化機能を、実測で撤去した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000" y="1368000"/>
            <a:ext cx="10908000" cy="52920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>
            <a:outerShdw blurRad="101600" dist="38100" dir="810000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00000" y="1656000"/>
            <a:ext cx="10332000" cy="4716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25000"/>
              </a:lnSpc>
              <a:spcAft>
                <a:spcPts val="1050"/>
              </a:spcAft>
            </a:pPr>
            <a:r>
              <a:rPr sz="1400">
                <a:solidFill>
                  <a:srgbClr val="1B2A3A"/>
                </a:solidFill>
                <a:latin typeface="Calibri"/>
                <a:ea typeface="游ゴシック"/>
              </a:rPr>
              <a:t>・作る前は「被依存数で並べれば埋もれた良いものが出る」と考えていた</a:t>
            </a:r>
          </a:p>
          <a:p>
            <a:pPr>
              <a:lnSpc>
                <a:spcPct val="125000"/>
              </a:lnSpc>
              <a:spcAft>
                <a:spcPts val="1050"/>
              </a:spcAft>
            </a:pPr>
            <a:r>
              <a:rPr sz="1400">
                <a:solidFill>
                  <a:srgbClr val="1B2A3A"/>
                </a:solidFill>
                <a:latin typeface="Calibri"/>
                <a:ea typeface="游ゴシック"/>
              </a:rPr>
              <a:t>・当時の候補プールは npm だけの上位 294 件で、リポジトリ単位ではユニーク 227 件しかなかった</a:t>
            </a:r>
          </a:p>
          <a:p>
            <a:pPr>
              <a:lnSpc>
                <a:spcPct val="125000"/>
              </a:lnSpc>
              <a:spcAft>
                <a:spcPts val="1050"/>
              </a:spcAft>
            </a:pPr>
            <a:r>
              <a:rPr sz="1400">
                <a:solidFill>
                  <a:srgbClr val="1B2A3A"/>
                </a:solidFill>
                <a:latin typeface="Calibri"/>
                <a:ea typeface="游ゴシック"/>
              </a:rPr>
              <a:t>・却下: この 227 件では検索上位 100 件との一致が一般語でほぼ 0 件で、並べ替える対象がなかった</a:t>
            </a:r>
          </a:p>
          <a:p>
            <a:pPr>
              <a:lnSpc>
                <a:spcPct val="125000"/>
              </a:lnSpc>
              <a:spcAft>
                <a:spcPts val="1050"/>
              </a:spcAft>
            </a:pPr>
            <a:r>
              <a:rPr sz="1400">
                <a:solidFill>
                  <a:srgbClr val="1B2A3A"/>
                </a:solidFill>
                <a:latin typeface="Calibri"/>
                <a:ea typeface="游ゴシック"/>
              </a:rPr>
              <a:t>・却下: 候補を広げる案も、バンドル 3 MB 上限に当たるうえ、npm 限定では非 JS 系に当たらない</a:t>
            </a:r>
          </a:p>
          <a:p>
            <a:pPr>
              <a:lnSpc>
                <a:spcPct val="125000"/>
              </a:lnSpc>
              <a:spcAft>
                <a:spcPts val="1050"/>
              </a:spcAft>
            </a:pPr>
            <a:r>
              <a:rPr sz="1400">
                <a:solidFill>
                  <a:srgbClr val="1B2A3A"/>
                </a:solidFill>
                <a:latin typeface="Calibri"/>
                <a:ea typeface="游ゴシック"/>
              </a:rPr>
              <a:t>・採用: 検索結果を Gem Index 順に並べる sort=gem-index を用意していたが、これを撤去した</a:t>
            </a:r>
          </a:p>
          <a:p>
            <a:pPr>
              <a:lnSpc>
                <a:spcPct val="125000"/>
              </a:lnSpc>
              <a:spcAft>
                <a:spcPts val="1050"/>
              </a:spcAft>
            </a:pPr>
            <a:r>
              <a:rPr sz="1400">
                <a:solidFill>
                  <a:srgbClr val="1B2A3A"/>
                </a:solidFill>
                <a:latin typeface="Calibri"/>
                <a:ea typeface="游ゴシック"/>
              </a:rPr>
              <a:t>・採用: 1 検索あたり最大 10 リクエスト（体感 3〜8 秒）が、常に 1 回（0.5〜1 秒）になった</a:t>
            </a:r>
          </a:p>
          <a:p>
            <a:pPr>
              <a:lnSpc>
                <a:spcPct val="125000"/>
              </a:lnSpc>
              <a:spcAft>
                <a:spcPts val="1050"/>
              </a:spcAft>
            </a:pPr>
            <a:r>
              <a:rPr sz="1400">
                <a:solidFill>
                  <a:srgbClr val="1B2A3A"/>
                </a:solidFill>
                <a:latin typeface="Calibri"/>
                <a:ea typeface="游ゴシック"/>
              </a:rPr>
              <a:t>・差別化の見せ場を自分で外す決定だったが、実測の数字の前では迷う余地がなかった</a:t>
            </a:r>
          </a:p>
          <a:p>
            <a:pPr>
              <a:lnSpc>
                <a:spcPct val="125000"/>
              </a:lnSpc>
              <a:spcAft>
                <a:spcPts val="1050"/>
              </a:spcAft>
            </a:pPr>
            <a:r>
              <a:rPr sz="1400">
                <a:solidFill>
                  <a:srgbClr val="1B2A3A"/>
                </a:solidFill>
                <a:latin typeface="Calibri"/>
                <a:ea typeface="游ゴシック"/>
              </a:rPr>
              <a:t>・ただしこの 2 つの却下理由は、このあと前提ごと崩れることになる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32000" cy="1008000"/>
          </a:xfrm>
          <a:prstGeom prst="rect">
            <a:avLst/>
          </a:prstGeom>
          <a:solidFill>
            <a:srgbClr val="1436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  <a:ea typeface="游ゴシック"/>
              </a:rPr>
              <a:t>母集団を広げたら、撤去の根拠が消えた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000" y="1368000"/>
            <a:ext cx="10908000" cy="52920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>
            <a:outerShdw blurRad="101600" dist="38100" dir="810000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00000" y="1656000"/>
            <a:ext cx="10332000" cy="4716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25000"/>
              </a:lnSpc>
              <a:spcAft>
                <a:spcPts val="1050"/>
              </a:spcAft>
            </a:pPr>
            <a:r>
              <a:rPr sz="1400">
                <a:solidFill>
                  <a:srgbClr val="1B2A3A"/>
                </a:solidFill>
                <a:latin typeface="Calibri"/>
                <a:ea typeface="游ゴシック"/>
              </a:rPr>
              <a:t>・当時は「npm 限定だから広げても非 JS 系には効かない」と構造的な限界だと書いた。そこが間違っていた</a:t>
            </a:r>
          </a:p>
          <a:p>
            <a:pPr>
              <a:lnSpc>
                <a:spcPct val="125000"/>
              </a:lnSpc>
              <a:spcAft>
                <a:spcPts val="1050"/>
              </a:spcAft>
            </a:pPr>
            <a:r>
              <a:rPr sz="1400">
                <a:solidFill>
                  <a:srgbClr val="1B2A3A"/>
                </a:solidFill>
                <a:latin typeface="Calibri"/>
                <a:ea typeface="游ゴシック"/>
              </a:rPr>
              <a:t>・集める先を 12 レジストリへ広げ、被依存数の多い順に最大 15,000 件ずつ集め直した</a:t>
            </a:r>
          </a:p>
          <a:p>
            <a:pPr>
              <a:lnSpc>
                <a:spcPct val="125000"/>
              </a:lnSpc>
              <a:spcAft>
                <a:spcPts val="1050"/>
              </a:spcAft>
            </a:pPr>
            <a:r>
              <a:rPr sz="1400">
                <a:solidFill>
                  <a:srgbClr val="1B2A3A"/>
                </a:solidFill>
                <a:latin typeface="Calibri"/>
                <a:ea typeface="游ゴシック"/>
              </a:rPr>
              <a:t>・汚染と重複を落として残ったのはユニーク 62,483 リポジトリ。最大の npm でも 15.5% にとどまる</a:t>
            </a:r>
          </a:p>
          <a:p>
            <a:pPr>
              <a:lnSpc>
                <a:spcPct val="125000"/>
              </a:lnSpc>
              <a:spcAft>
                <a:spcPts val="1050"/>
              </a:spcAft>
            </a:pPr>
            <a:r>
              <a:rPr sz="1400">
                <a:solidFill>
                  <a:srgbClr val="1B2A3A"/>
                </a:solidFill>
                <a:latin typeface="Calibri"/>
                <a:ea typeface="游ゴシック"/>
              </a:rPr>
              <a:t>・一般語 24 語で測り直すと、検索上位 100 件の平均 34.5% に Gem Index が付いた</a:t>
            </a:r>
          </a:p>
          <a:p>
            <a:pPr>
              <a:lnSpc>
                <a:spcPct val="125000"/>
              </a:lnSpc>
              <a:spcAft>
                <a:spcPts val="1050"/>
              </a:spcAft>
            </a:pPr>
            <a:r>
              <a:rPr sz="1400">
                <a:solidFill>
                  <a:srgbClr val="1B2A3A"/>
                </a:solidFill>
                <a:latin typeface="Calibri"/>
                <a:ea typeface="游ゴシック"/>
              </a:rPr>
              <a:t>・3 MB のバンドル上限も、静的アセットとして配る方式に変えたことで当たらなくなった</a:t>
            </a:r>
          </a:p>
          <a:p>
            <a:pPr>
              <a:lnSpc>
                <a:spcPct val="125000"/>
              </a:lnSpc>
              <a:spcAft>
                <a:spcPts val="1050"/>
              </a:spcAft>
            </a:pPr>
            <a:r>
              <a:rPr sz="1400">
                <a:solidFill>
                  <a:srgbClr val="1B2A3A"/>
                </a:solidFill>
                <a:latin typeface="Calibri"/>
                <a:ea typeface="游ゴシック"/>
              </a:rPr>
              <a:t>・それでも sort=gem-index は戻さない。100 件中 68 件に値が無く、主ソートには使えない</a:t>
            </a:r>
          </a:p>
          <a:p>
            <a:pPr>
              <a:lnSpc>
                <a:spcPct val="125000"/>
              </a:lnSpc>
              <a:spcAft>
                <a:spcPts val="1050"/>
              </a:spcAft>
            </a:pPr>
            <a:r>
              <a:rPr sz="1400">
                <a:solidFill>
                  <a:srgbClr val="1B2A3A"/>
                </a:solidFill>
                <a:latin typeface="Calibri"/>
                <a:ea typeface="游ゴシック"/>
              </a:rPr>
              <a:t>・実測で殺した判断を、自分の実測でひっくり返す作業だった。記録が残っていたから測り直せた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32000" cy="1008000"/>
          </a:xfrm>
          <a:prstGeom prst="rect">
            <a:avLst/>
          </a:prstGeom>
          <a:solidFill>
            <a:srgbClr val="1436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  <a:ea typeface="游ゴシック"/>
              </a:rPr>
              <a:t>認証方式は 6 つの軸で選ぶ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000" y="1368000"/>
            <a:ext cx="10908000" cy="52920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>
            <a:outerShdw blurRad="101600" dist="38100" dir="810000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00000" y="1656000"/>
            <a:ext cx="10332000" cy="4716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25000"/>
              </a:lnSpc>
              <a:spcAft>
                <a:spcPts val="1050"/>
              </a:spcAft>
            </a:pPr>
            <a:r>
              <a:rPr sz="1400">
                <a:solidFill>
                  <a:srgbClr val="1B2A3A"/>
                </a:solidFill>
                <a:latin typeface="Calibri"/>
                <a:ea typeface="游ゴシック"/>
              </a:rPr>
              <a:t>・最初は Fine-grained PAT で十分だと思っていた</a:t>
            </a:r>
          </a:p>
          <a:p>
            <a:pPr>
              <a:lnSpc>
                <a:spcPct val="125000"/>
              </a:lnSpc>
              <a:spcAft>
                <a:spcPts val="1050"/>
              </a:spcAft>
            </a:pPr>
            <a:r>
              <a:rPr sz="1400">
                <a:solidFill>
                  <a:srgbClr val="1B2A3A"/>
                </a:solidFill>
                <a:latin typeface="Calibri"/>
                <a:ea typeface="游ゴシック"/>
              </a:rPr>
              <a:t>・却下: PAT は有効期限の更新が人手に残る（定常運用ゼロという要件と噛み合わない）</a:t>
            </a:r>
          </a:p>
          <a:p>
            <a:pPr>
              <a:lnSpc>
                <a:spcPct val="125000"/>
              </a:lnSpc>
              <a:spcAft>
                <a:spcPts val="1050"/>
              </a:spcAft>
            </a:pPr>
            <a:r>
              <a:rPr sz="1400">
                <a:solidFill>
                  <a:srgbClr val="1B2A3A"/>
                </a:solidFill>
                <a:latin typeface="Calibri"/>
                <a:ea typeface="游ゴシック"/>
              </a:rPr>
              <a:t>・却下: 未認証のまま叩く（レート枠が狭く、利用者が増えるほど体感が落ちる）</a:t>
            </a:r>
          </a:p>
          <a:p>
            <a:pPr>
              <a:lnSpc>
                <a:spcPct val="125000"/>
              </a:lnSpc>
              <a:spcAft>
                <a:spcPts val="1050"/>
              </a:spcAft>
            </a:pPr>
            <a:r>
              <a:rPr sz="1400">
                <a:solidFill>
                  <a:srgbClr val="1B2A3A"/>
                </a:solidFill>
                <a:latin typeface="Calibri"/>
                <a:ea typeface="游ゴシック"/>
              </a:rPr>
              <a:t>・採用: GitHub App の installation token（JWT 署名 → token 取得 → 失効前まで再利用）</a:t>
            </a:r>
          </a:p>
          <a:p>
            <a:pPr>
              <a:lnSpc>
                <a:spcPct val="125000"/>
              </a:lnSpc>
              <a:spcAft>
                <a:spcPts val="1050"/>
              </a:spcAft>
            </a:pPr>
            <a:r>
              <a:rPr sz="1400">
                <a:solidFill>
                  <a:srgbClr val="1B2A3A"/>
                </a:solidFill>
                <a:latin typeface="Calibri"/>
                <a:ea typeface="游ゴシック"/>
              </a:rPr>
              <a:t>・軸 2「取得の往復コストを払えるか」と軸 4「実装コストを払えるか」が拒否権を持つ</a:t>
            </a:r>
          </a:p>
          <a:p>
            <a:pPr>
              <a:lnSpc>
                <a:spcPct val="125000"/>
              </a:lnSpc>
              <a:spcAft>
                <a:spcPts val="1050"/>
              </a:spcAft>
            </a:pPr>
            <a:r>
              <a:rPr sz="1400">
                <a:solidFill>
                  <a:srgbClr val="1B2A3A"/>
                </a:solidFill>
                <a:latin typeface="Calibri"/>
                <a:ea typeface="游ゴシック"/>
              </a:rPr>
              <a:t>・決め手は軸 3（有効期限の更新を人手でやらない）。レート枠の拡大は付随して得られた利点</a:t>
            </a:r>
          </a:p>
          <a:p>
            <a:pPr>
              <a:lnSpc>
                <a:spcPct val="125000"/>
              </a:lnSpc>
              <a:spcAft>
                <a:spcPts val="1050"/>
              </a:spcAft>
            </a:pPr>
            <a:r>
              <a:rPr sz="1400">
                <a:solidFill>
                  <a:srgbClr val="1B2A3A"/>
                </a:solidFill>
                <a:latin typeface="Calibri"/>
                <a:ea typeface="游ゴシック"/>
              </a:rPr>
              <a:t>・軸は「どれが効いたか」ではなく「どれが拒否権を持つか」で並べてある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32000" cy="1008000"/>
          </a:xfrm>
          <a:prstGeom prst="rect">
            <a:avLst/>
          </a:prstGeom>
          <a:solidFill>
            <a:srgbClr val="1436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  <a:ea typeface="游ゴシック"/>
              </a:rPr>
              <a:t>Web アプリだが、DB を 1 つも持たない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000" y="1368000"/>
            <a:ext cx="10908000" cy="52920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>
            <a:outerShdw blurRad="101600" dist="38100" dir="810000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00000" y="1656000"/>
            <a:ext cx="10332000" cy="4716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25000"/>
              </a:lnSpc>
              <a:spcAft>
                <a:spcPts val="1050"/>
              </a:spcAft>
            </a:pPr>
            <a:r>
              <a:rPr sz="1400">
                <a:solidFill>
                  <a:srgbClr val="1B2A3A"/>
                </a:solidFill>
                <a:latin typeface="Calibri"/>
                <a:ea typeface="游ゴシック"/>
              </a:rPr>
              <a:t>・却下: 自前 ETL + DB（単一開発者 + AI の運用では定常運用コストが見合わない）</a:t>
            </a:r>
          </a:p>
          <a:p>
            <a:pPr>
              <a:lnSpc>
                <a:spcPct val="125000"/>
              </a:lnSpc>
              <a:spcAft>
                <a:spcPts val="1050"/>
              </a:spcAft>
            </a:pPr>
            <a:r>
              <a:rPr sz="1400">
                <a:solidFill>
                  <a:srgbClr val="1B2A3A"/>
                </a:solidFill>
                <a:latin typeface="Calibri"/>
                <a:ea typeface="游ゴシック"/>
              </a:rPr>
              <a:t>・却下: お気に入りをサーバーに保存（端末間同期の利便性より DB レス原則を優先した）</a:t>
            </a:r>
          </a:p>
          <a:p>
            <a:pPr>
              <a:lnSpc>
                <a:spcPct val="125000"/>
              </a:lnSpc>
              <a:spcAft>
                <a:spcPts val="1050"/>
              </a:spcAft>
            </a:pPr>
            <a:r>
              <a:rPr sz="1400">
                <a:solidFill>
                  <a:srgbClr val="1B2A3A"/>
                </a:solidFill>
                <a:latin typeface="Calibri"/>
                <a:ea typeface="游ゴシック"/>
              </a:rPr>
              <a:t>・採用: 検索状態は URL に、ロケールはパスに置く</a:t>
            </a:r>
          </a:p>
          <a:p>
            <a:pPr>
              <a:lnSpc>
                <a:spcPct val="125000"/>
              </a:lnSpc>
              <a:spcAft>
                <a:spcPts val="1050"/>
              </a:spcAft>
            </a:pPr>
            <a:r>
              <a:rPr sz="1400">
                <a:solidFill>
                  <a:srgbClr val="1B2A3A"/>
                </a:solidFill>
                <a:latin typeface="Calibri"/>
                <a:ea typeface="游ゴシック"/>
              </a:rPr>
              <a:t>・採用: セッションは暗号化 httpOnly Cookie、お気に入りは localStorage に置く</a:t>
            </a:r>
          </a:p>
          <a:p>
            <a:pPr>
              <a:lnSpc>
                <a:spcPct val="125000"/>
              </a:lnSpc>
              <a:spcAft>
                <a:spcPts val="1050"/>
              </a:spcAft>
            </a:pPr>
            <a:r>
              <a:rPr sz="1400">
                <a:solidFill>
                  <a:srgbClr val="1B2A3A"/>
                </a:solidFill>
                <a:latin typeface="Calibri"/>
                <a:ea typeface="游ゴシック"/>
              </a:rPr>
              <a:t>・採用: Gem のデータも日次バッチが作る静的 JSON で、サーバー側に状態を持たない点は他と同じ</a:t>
            </a:r>
          </a:p>
          <a:p>
            <a:pPr>
              <a:lnSpc>
                <a:spcPct val="125000"/>
              </a:lnSpc>
              <a:spcAft>
                <a:spcPts val="1050"/>
              </a:spcAft>
            </a:pPr>
            <a:r>
              <a:rPr sz="1400">
                <a:solidFill>
                  <a:srgbClr val="1B2A3A"/>
                </a:solidFill>
                <a:latin typeface="Calibri"/>
                <a:ea typeface="游ゴシック"/>
              </a:rPr>
              <a:t>・唯一の例外が CachePort（アーキテクチャで触れた TTL 付きキャッシュ層のインターフェース）</a:t>
            </a:r>
          </a:p>
          <a:p>
            <a:pPr>
              <a:lnSpc>
                <a:spcPct val="125000"/>
              </a:lnSpc>
              <a:spcAft>
                <a:spcPts val="1050"/>
              </a:spcAft>
            </a:pPr>
            <a:r>
              <a:rPr sz="1400">
                <a:solidFill>
                  <a:srgbClr val="1B2A3A"/>
                </a:solidFill>
                <a:latin typeface="Calibri"/>
                <a:ea typeface="游ゴシック"/>
              </a:rPr>
              <a:t>・DB を持たないのでバックアップもマイグレーションも消えた。代わりに状態は端末に閉じる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32000" cy="1008000"/>
          </a:xfrm>
          <a:prstGeom prst="rect">
            <a:avLst/>
          </a:prstGeom>
          <a:solidFill>
            <a:srgbClr val="1436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  <a:ea typeface="游ゴシック"/>
              </a:rPr>
              <a:t>持ち帰れる 4 つの考え方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000" y="1368000"/>
            <a:ext cx="10908000" cy="52920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>
            <a:outerShdw blurRad="101600" dist="38100" dir="810000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00000" y="1656000"/>
            <a:ext cx="10332000" cy="4716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25000"/>
              </a:lnSpc>
              <a:spcAft>
                <a:spcPts val="1200"/>
              </a:spcAft>
            </a:pPr>
            <a:r>
              <a:rPr sz="1600">
                <a:solidFill>
                  <a:srgbClr val="1B2A3A"/>
                </a:solidFill>
                <a:latin typeface="Calibri"/>
                <a:ea typeface="游ゴシック"/>
              </a:rPr>
              <a:t>・注目度ではなく実利用を起点に測ると、同じ対象でも既存の順位づけとは違うものが見えてくる</a:t>
            </a:r>
          </a:p>
          <a:p>
            <a:pPr>
              <a:lnSpc>
                <a:spcPct val="125000"/>
              </a:lnSpc>
              <a:spcAft>
                <a:spcPts val="1200"/>
              </a:spcAft>
            </a:pPr>
            <a:r>
              <a:rPr sz="1600">
                <a:solidFill>
                  <a:srgbClr val="1B2A3A"/>
                </a:solidFill>
                <a:latin typeface="Calibri"/>
                <a:ea typeface="游ゴシック"/>
              </a:rPr>
              <a:t>・指標は絶対値ではなく順位の残差で作ると、数字を水増しされても構造的に崩れにくい</a:t>
            </a:r>
          </a:p>
          <a:p>
            <a:pPr>
              <a:lnSpc>
                <a:spcPct val="125000"/>
              </a:lnSpc>
              <a:spcAft>
                <a:spcPts val="1200"/>
              </a:spcAft>
            </a:pPr>
            <a:r>
              <a:rPr sz="1600">
                <a:solidFill>
                  <a:srgbClr val="1B2A3A"/>
                </a:solidFill>
                <a:latin typeface="Calibri"/>
                <a:ea typeface="游ゴシック"/>
              </a:rPr>
              <a:t>・層を足す前に「どの規律を守るためか」を 1 行で言えるかを問う。言えないなら足さない</a:t>
            </a:r>
          </a:p>
          <a:p>
            <a:pPr>
              <a:lnSpc>
                <a:spcPct val="125000"/>
              </a:lnSpc>
              <a:spcAft>
                <a:spcPts val="1200"/>
              </a:spcAft>
            </a:pPr>
            <a:r>
              <a:rPr sz="1600">
                <a:solidFill>
                  <a:srgbClr val="1B2A3A"/>
                </a:solidFill>
                <a:latin typeface="Calibri"/>
                <a:ea typeface="游ゴシック"/>
              </a:rPr>
              <a:t>・判断の根拠と却下案を残しておくと、前提が変わったときに測り直して、戻すこともできる</a:t>
            </a:r>
          </a:p>
          <a:p>
            <a:pPr>
              <a:lnSpc>
                <a:spcPct val="125000"/>
              </a:lnSpc>
              <a:spcAft>
                <a:spcPts val="1200"/>
              </a:spcAft>
            </a:pPr>
            <a:r>
              <a:rPr sz="1600">
                <a:solidFill>
                  <a:srgbClr val="1B2A3A"/>
                </a:solidFill>
                <a:latin typeface="Calibri"/>
                <a:ea typeface="游ゴシック"/>
              </a:rPr>
              <a:t>・どれも gem-hunter に固有ではなく、次に作るものにそのまま持ち込める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